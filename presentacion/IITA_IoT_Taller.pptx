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49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21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5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D97706">
              <a:alpha val="6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1645920" y="4297680"/>
            <a:ext cx="4206240" cy="4206240"/>
          </a:xfrm>
          <a:prstGeom prst="ellipse">
            <a:avLst/>
          </a:prstGeom>
          <a:solidFill>
            <a:srgbClr val="0E7490">
              <a:alpha val="5000"/>
            </a:srgbClr>
          </a:solidFill>
          <a:ln w="12700">
            <a:solidFill>
              <a:srgbClr val="0E7490">
                <a:alpha val="1800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· IITA — UCASAL · SALTA, ARGENTINA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69164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Industrial</a:t>
            </a:r>
            <a:endParaRPr lang="en-US" sz="6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834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sensor a la nube con IA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construir un sistema completo de telemetría industrial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Claude Code como copiloto de desarrollo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31520" y="50749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77824" y="5230368"/>
            <a:ext cx="457200" cy="45720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534924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08176" y="50749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915 MHz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2962656" y="50749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08960" y="5230368"/>
            <a:ext cx="457200" cy="45720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832" y="534924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39312" y="50749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RTDB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193792" y="50749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340096" y="5230368"/>
            <a:ext cx="457200" cy="457200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534924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70448" y="50749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Web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424928" y="50749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571232" y="5230368"/>
            <a:ext cx="457200" cy="457200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534924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101584" y="50749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9656064" y="50749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802368" y="5230368"/>
            <a:ext cx="457200" cy="4572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1240" y="5349240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332720" y="50749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paradas: del problema real al sistema funcionando — y su versión honesta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55448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49808" y="1801368"/>
            <a:ext cx="585216" cy="585216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1953524"/>
            <a:ext cx="280904" cy="28090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1554480"/>
            <a:ext cx="777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5"/>
          <p:cNvSpPr txBox="1"/>
          <p:nvPr/>
        </p:nvSpPr>
        <p:spPr>
          <a:xfrm>
            <a:off x="2331720" y="155448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taller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6355080" y="155448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556248" y="1801368"/>
            <a:ext cx="585216" cy="585216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404" y="1953524"/>
            <a:ext cx="280904" cy="28090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15200" y="1554480"/>
            <a:ext cx="777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9"/>
          <p:cNvSpPr txBox="1"/>
          <p:nvPr/>
        </p:nvSpPr>
        <p:spPr>
          <a:xfrm>
            <a:off x="8138160" y="155448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a resolver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548640" y="279806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49808" y="3044952"/>
            <a:ext cx="585216" cy="585216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964" y="3197108"/>
            <a:ext cx="280904" cy="28090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08760" y="2798064"/>
            <a:ext cx="777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3"/>
          <p:cNvSpPr txBox="1"/>
          <p:nvPr/>
        </p:nvSpPr>
        <p:spPr>
          <a:xfrm>
            <a:off x="2331720" y="2798064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Elección del hardware</a:t>
            </a:r>
            <a:endParaRPr lang="en-US" sz="1550" dirty="0"/>
          </a:p>
        </p:txBody>
      </p:sp>
      <p:sp>
        <p:nvSpPr>
          <p:cNvPr id="21" name="Shape 14"/>
          <p:cNvSpPr/>
          <p:nvPr/>
        </p:nvSpPr>
        <p:spPr>
          <a:xfrm>
            <a:off x="6355080" y="279806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556248" y="3044952"/>
            <a:ext cx="585216" cy="585216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8404" y="3197108"/>
            <a:ext cx="280904" cy="28090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315200" y="2798064"/>
            <a:ext cx="777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17"/>
          <p:cNvSpPr txBox="1"/>
          <p:nvPr/>
        </p:nvSpPr>
        <p:spPr>
          <a:xfrm>
            <a:off x="8138160" y="2798064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como copiloto</a:t>
            </a:r>
            <a:endParaRPr lang="en-US" sz="1550" dirty="0"/>
          </a:p>
        </p:txBody>
      </p:sp>
      <p:sp>
        <p:nvSpPr>
          <p:cNvPr id="26" name="Shape 18"/>
          <p:cNvSpPr/>
          <p:nvPr/>
        </p:nvSpPr>
        <p:spPr>
          <a:xfrm>
            <a:off x="548640" y="404164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49808" y="4288536"/>
            <a:ext cx="585216" cy="585216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964" y="4440692"/>
            <a:ext cx="280904" cy="28090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508760" y="4041648"/>
            <a:ext cx="777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1"/>
          <p:cNvSpPr txBox="1"/>
          <p:nvPr/>
        </p:nvSpPr>
        <p:spPr>
          <a:xfrm>
            <a:off x="2331720" y="404164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autónomo y resiliente</a:t>
            </a:r>
            <a:endParaRPr lang="en-US" sz="1550" dirty="0"/>
          </a:p>
        </p:txBody>
      </p:sp>
      <p:sp>
        <p:nvSpPr>
          <p:cNvPr id="31" name="Shape 22"/>
          <p:cNvSpPr/>
          <p:nvPr/>
        </p:nvSpPr>
        <p:spPr>
          <a:xfrm>
            <a:off x="6355080" y="404164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6556248" y="4288536"/>
            <a:ext cx="585216" cy="585216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8404" y="4440692"/>
            <a:ext cx="280904" cy="28090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315200" y="4041648"/>
            <a:ext cx="777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Text 25"/>
          <p:cNvSpPr txBox="1"/>
          <p:nvPr/>
        </p:nvSpPr>
        <p:spPr>
          <a:xfrm>
            <a:off x="8138160" y="404164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a paso: prompts por fase</a:t>
            </a:r>
            <a:endParaRPr lang="en-US" sz="1550" dirty="0"/>
          </a:p>
        </p:txBody>
      </p:sp>
      <p:sp>
        <p:nvSpPr>
          <p:cNvPr id="36" name="Shape 26"/>
          <p:cNvSpPr/>
          <p:nvPr/>
        </p:nvSpPr>
        <p:spPr>
          <a:xfrm>
            <a:off x="548640" y="528523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49808" y="5532120"/>
            <a:ext cx="585216" cy="585216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964" y="5684276"/>
            <a:ext cx="280904" cy="28090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508760" y="5285232"/>
            <a:ext cx="777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40" name="Text 29"/>
          <p:cNvSpPr txBox="1"/>
          <p:nvPr/>
        </p:nvSpPr>
        <p:spPr>
          <a:xfrm>
            <a:off x="2331720" y="5285232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técnico por etapa</a:t>
            </a:r>
            <a:endParaRPr lang="en-US" sz="1550" dirty="0"/>
          </a:p>
        </p:txBody>
      </p:sp>
      <p:sp>
        <p:nvSpPr>
          <p:cNvPr id="41" name="Shape 30"/>
          <p:cNvSpPr/>
          <p:nvPr/>
        </p:nvSpPr>
        <p:spPr>
          <a:xfrm>
            <a:off x="6355080" y="528523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6556248" y="5532120"/>
            <a:ext cx="585216" cy="585216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8404" y="5684276"/>
            <a:ext cx="280904" cy="28090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315200" y="5285232"/>
            <a:ext cx="777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45" name="Text 33"/>
          <p:cNvSpPr txBox="1"/>
          <p:nvPr/>
        </p:nvSpPr>
        <p:spPr>
          <a:xfrm>
            <a:off x="8138160" y="5285232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vs. Producción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taller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IITA — Instituto de Investigaciones en Tecnologías y Aplicaciones · UCASAL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6675120" cy="4709160"/>
          </a:xfrm>
          <a:prstGeom prst="roundRect">
            <a:avLst>
              <a:gd name="adj" fmla="val 1553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828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24028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un sistema de telemetría IoT completo en 5 fases: desde el sensor físico en campo hasta una app móvil en tiempo real.</a:t>
            </a:r>
            <a:endParaRPr lang="en-US" sz="14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desarrollo asistido por inteligencia artificial: Claude Code (Anthropic) como copiloto contextualizado del proyecto.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magia: es método. Configuración, contexto e iteración.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206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objetivo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61772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de ingeniería y carreras técnicas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Desarrolladores que quieren entrar al mundo embebido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Entusiastas de IoT, makers y curiosos de la IA aplicada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543800" y="160020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0" y="16002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9372600" y="16002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progresivas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543800" y="2816352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0" y="2816352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9372600" y="2816352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placas LoRa (TX + RX)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543800" y="4032504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0" y="4032504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smtClean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</a:t>
            </a:r>
            <a:r>
              <a:rPr lang="en-US" sz="3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9372600" y="4032504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jornada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7543800" y="5248656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72400" y="5248656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22" name="Text 18"/>
          <p:cNvSpPr txBox="1"/>
          <p:nvPr/>
        </p:nvSpPr>
        <p:spPr>
          <a:xfrm>
            <a:off x="9372600" y="5248656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 IA</a:t>
            </a:r>
            <a:endParaRPr lang="en-US" sz="13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llevan del taller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competencias concretas, cada una demostrada con hardware real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1976201"/>
            <a:ext cx="272125" cy="27212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81328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LoRa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2560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de largo alcance punto a punto: parámetros, paquetes binarios, RSSI/SNR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361688" y="16002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90288" y="1828800"/>
            <a:ext cx="566928" cy="566928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689" y="1976201"/>
            <a:ext cx="272125" cy="27212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94376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cloud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4590288" y="2560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telemetría a Firebase RTDB desde un ESP32 con timestamp NTP real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174736" y="16002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403336" y="1828800"/>
            <a:ext cx="566928" cy="566928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737" y="1976201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07424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industriales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403336" y="2560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misma telemetría, tres lecturas: ambiental, caldera y planta de litio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48640" y="3977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641" y="4353641"/>
            <a:ext cx="272125" cy="27212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81328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móviles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777240" y="4937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 con datos en tiempo real y fallback de conexión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4361688" y="3977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590288" y="4206240"/>
            <a:ext cx="566928" cy="566928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689" y="4353641"/>
            <a:ext cx="272125" cy="27212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294376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básica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4590288" y="4937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secretos, .gitignore, anti-replay y límites del enfoque demo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8174736" y="3977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403336" y="4206240"/>
            <a:ext cx="566928" cy="566928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0737" y="4353641"/>
            <a:ext cx="272125" cy="27212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07424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como herramienta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8403336" y="4937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un copiloto con contexto: skills, memoria y reglas de proyecto</a:t>
            </a:r>
            <a:endParaRPr lang="en-US" sz="125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0" y="548640"/>
            <a:ext cx="566928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0" dirty="0"/>
          </a:p>
        </p:txBody>
      </p:sp>
      <p:sp>
        <p:nvSpPr>
          <p:cNvPr id="5" name="Shape 1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03704"/>
            <a:ext cx="438912" cy="43891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02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749808" y="34290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4480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planta industrial en el NOA argentino necesita ver, desde la oficina y el celular,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pasa en un punto remoto donde no llega ningún cable.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escenario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60997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Minería, energía o litio: el punto de medición nunca está al lado del router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6720840" cy="4709160"/>
          </a:xfrm>
          <a:prstGeom prst="roundRect">
            <a:avLst>
              <a:gd name="adj" fmla="val 1553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 monitorear en campo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22960" y="2331720"/>
            <a:ext cx="530352" cy="530352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52" y="2469612"/>
            <a:ext cx="254569" cy="25456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22768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y humedad del ambiente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1508760" y="26060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DHT22 · confort, rocío, riesgo operativo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22960" y="3319272"/>
            <a:ext cx="530352" cy="530352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3457164"/>
            <a:ext cx="254569" cy="25456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32644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Presión atmosférica y altitud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1508760" y="35935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BMP180 · tendencia meteorológica del sitio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22960" y="4306824"/>
            <a:ext cx="530352" cy="530352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444716"/>
            <a:ext cx="254569" cy="25456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508760" y="42519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térmico de una caldera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1508760" y="458114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operativas: normal, precaución, peligro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22960" y="5294376"/>
            <a:ext cx="530352" cy="530352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5432268"/>
            <a:ext cx="254569" cy="254569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508760" y="52395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Evaporación en pileta de salmuera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1508760" y="55686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 de litio y tasa de evaporación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7589520" y="1600200"/>
            <a:ext cx="4023360" cy="4709160"/>
          </a:xfrm>
          <a:prstGeom prst="roundRect">
            <a:avLst>
              <a:gd name="adj" fmla="val 1818"/>
            </a:avLst>
          </a:prstGeom>
          <a:solidFill>
            <a:srgbClr val="EAEEF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786384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restricción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7863840" y="2331720"/>
            <a:ext cx="3520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Ethernet en el punto de medición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cobertura WiFi directa (cientos de metros o km)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energía de red garantizada: batería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consultables desde cualquier lugar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por industria, no un dashboard genérico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operador mira el celular, no una consola</a:t>
            </a:r>
            <a:endParaRPr lang="en-US" sz="13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solución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eslabones, cada uno es una fase del taller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210312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43584" y="2377440"/>
            <a:ext cx="731520" cy="73152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779" y="2567635"/>
            <a:ext cx="351130" cy="35113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58368" y="32461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94944" y="3703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DHT22 + BMP180 en la placa TX de campo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2615184" y="3154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4988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889504" y="210312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584448" y="2377440"/>
            <a:ext cx="731520" cy="731520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643" y="2567635"/>
            <a:ext cx="351130" cy="35113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999232" y="32461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LoRa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3035808" y="3703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915 MHz · paquete binario de 27 bytes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4956048" y="3154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2999232" y="44988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230368" y="210312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25312" y="2377440"/>
            <a:ext cx="731520" cy="731520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507" y="2567635"/>
            <a:ext cx="351130" cy="35113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40096" y="32461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WiFi + NTP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5376672" y="3703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 RX recibe, timestampa y valida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7296912" y="3154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5340096" y="44988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571232" y="210312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266176" y="2377440"/>
            <a:ext cx="731520" cy="73152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6371" y="2567635"/>
            <a:ext cx="351130" cy="35113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680960" y="32461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RTDB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7717536" y="3703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Telemetría en la nube en tiempo real</a:t>
            </a:r>
            <a:endParaRPr lang="en-US" sz="1150" dirty="0"/>
          </a:p>
        </p:txBody>
      </p:sp>
      <p:sp>
        <p:nvSpPr>
          <p:cNvPr id="32" name="Text 24"/>
          <p:cNvSpPr txBox="1"/>
          <p:nvPr/>
        </p:nvSpPr>
        <p:spPr>
          <a:xfrm>
            <a:off x="9637776" y="3154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7680960" y="44988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9912096" y="210312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0607040" y="2377440"/>
            <a:ext cx="731520" cy="731520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7235" y="2567635"/>
            <a:ext cx="351130" cy="35113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021824" y="32461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App</a:t>
            </a:r>
            <a:endParaRPr lang="en-US" sz="1450" dirty="0"/>
          </a:p>
        </p:txBody>
      </p:sp>
      <p:sp>
        <p:nvSpPr>
          <p:cNvPr id="38" name="Text 29"/>
          <p:cNvSpPr txBox="1"/>
          <p:nvPr/>
        </p:nvSpPr>
        <p:spPr>
          <a:xfrm>
            <a:off x="10058400" y="3703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vistas industriales sincronizadas</a:t>
            </a:r>
            <a:endParaRPr lang="en-US" sz="1150" dirty="0"/>
          </a:p>
        </p:txBody>
      </p:sp>
      <p:sp>
        <p:nvSpPr>
          <p:cNvPr id="39" name="Text 30"/>
          <p:cNvSpPr txBox="1"/>
          <p:nvPr/>
        </p:nvSpPr>
        <p:spPr>
          <a:xfrm>
            <a:off x="10021824" y="44988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dato viaja del </a:t>
            </a:r>
            <a:r>
              <a:rPr lang="en-US" sz="1500" i="1" dirty="0" smtClean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desierto/</a:t>
            </a:r>
            <a:r>
              <a:rPr lang="en-US" sz="1500" i="1" dirty="0" err="1" smtClean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</a:t>
            </a:r>
            <a:r>
              <a:rPr lang="en-US" sz="1500" i="1" dirty="0" smtClean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/campo </a:t>
            </a:r>
            <a:r>
              <a:rPr lang="en-US" sz="15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bolsillo del operador en menos de 5 segundos.</a:t>
            </a:r>
            <a:endParaRPr lang="en-US" sz="15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0" y="548640"/>
            <a:ext cx="566928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0" dirty="0"/>
          </a:p>
        </p:txBody>
      </p:sp>
      <p:sp>
        <p:nvSpPr>
          <p:cNvPr id="5" name="Shape 1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03704"/>
            <a:ext cx="438912" cy="43891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03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749808" y="34290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Elección del hardware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4480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placas idénticas con roles distintos, dos sensores probados,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una radio que no necesita infraestructura.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Heltec WiFi LoRa 32 V2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placa, tres radios (LoRa + WiFi + BT), display integrado — ~USD 15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49808" y="1938528"/>
            <a:ext cx="640080" cy="640080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9" y="2104949"/>
            <a:ext cx="307238" cy="30723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5448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 </a:t>
            </a: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dual-core 240 MHz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1554480" y="2267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con WiFi y Bluetooth integrados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6355080" y="16459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556248" y="1938528"/>
            <a:ext cx="640080" cy="64008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69" y="2104949"/>
            <a:ext cx="307238" cy="3072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6092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SX1276  </a:t>
            </a: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915 MHz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7360920" y="2267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2–10 km de alcance sin infraestructura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31089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49808" y="3401568"/>
            <a:ext cx="640080" cy="64008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9" y="3567989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54480" y="3273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SSD1306  </a:t>
            </a: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128×64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1554480" y="37307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en el equipo, sin PC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355080" y="31089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556248" y="3401568"/>
            <a:ext cx="640080" cy="640080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69" y="3567989"/>
            <a:ext cx="307238" cy="30723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360920" y="3273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CP2102  </a:t>
            </a: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+ LiPo</a:t>
            </a:r>
            <a:endParaRPr lang="en-US" sz="1700" dirty="0"/>
          </a:p>
        </p:txBody>
      </p:sp>
      <p:sp>
        <p:nvSpPr>
          <p:cNvPr id="25" name="Text 17"/>
          <p:cNvSpPr txBox="1"/>
          <p:nvPr/>
        </p:nvSpPr>
        <p:spPr>
          <a:xfrm>
            <a:off x="7360920" y="37307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y gestión de batería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548640" y="4617720"/>
            <a:ext cx="5477256" cy="1691640"/>
          </a:xfrm>
          <a:prstGeom prst="roundRect">
            <a:avLst>
              <a:gd name="adj" fmla="val 4324"/>
            </a:avLst>
          </a:prstGeom>
          <a:solidFill>
            <a:srgbClr val="F4F6F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82296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 TX — CAMPO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82296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DHT22 + BMP180, arma el paquete de telemetría y lo transmite por LoRa cada 3 s. Muestra estado de TX en su OLED.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355080" y="4617720"/>
            <a:ext cx="5477256" cy="1691640"/>
          </a:xfrm>
          <a:prstGeom prst="roundRect">
            <a:avLst>
              <a:gd name="adj" fmla="val 4324"/>
            </a:avLst>
          </a:prstGeom>
          <a:solidFill>
            <a:srgbClr val="F4F6F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62940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 RX — BASE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662940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por LoRa, valida secuencia, agrega hora NTP por WiFi y sube todo a Firebase. Su OLED es un mini-dashboard local.</a:t>
            </a:r>
            <a:endParaRPr lang="en-US" sz="12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sensores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clásicos confiables y documentados hasta el cansancio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2098548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691640" y="1938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DHT22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169164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+ humedad · digital, 1 pin (GPIO 13)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301752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 térmico: −40 a 80 °C (±0.5 °C)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Humedad relativa: 0–100 % (±2–5 %)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propio de 1 hilo — lectura cada 2 s mínimo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Deriva: sensación térmica calculada en el firmware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355080" y="16459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209854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98080" y="1938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BMP180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749808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Presión + altitud · bus I2C compartido con la OLED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6675120" y="301752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Presión barométrica: 300–1100 hPa (±0.12 hPa)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 derivada de la presión de referencia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I2C: convive con el display sin pines extra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en Salta: el sitio está a ~1200 m de altura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989320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la placa: inicializar Vext (GPIO 21 → LOW) antes de usar la OLED · ADC2 no funciona con WiFi activo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LoRa y no otra radio?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escenario manda: kilómetros de distancia, batería, y cero infraestructura previa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Tecnología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Infraestructura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Ideal para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WiFi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30–100 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Casa, oficina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Bluetooth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10–30 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Wearables, corto alcance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Zigbee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 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Coordinador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Domótica, redes mesh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2–10 km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bajo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Telemetría remota, campo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EEF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41248" y="5193792"/>
            <a:ext cx="731520" cy="73152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" y="5383987"/>
            <a:ext cx="351130" cy="35113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828800" y="502920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gana en este escenario. </a:t>
            </a: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 en chirp spread spectrum: sacrifica velocidad (bytes, no megas) a cambio de kilómetros de alcance con miliwatts. Para 27 bytes de telemetría cada 3 segundos, es exactamente el trade-off correcto.</a:t>
            </a:r>
            <a:endParaRPr lang="en-US" sz="13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0" y="548640"/>
            <a:ext cx="566928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0" dirty="0"/>
          </a:p>
        </p:txBody>
      </p:sp>
      <p:sp>
        <p:nvSpPr>
          <p:cNvPr id="5" name="Shape 1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03704"/>
            <a:ext cx="438912" cy="43891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04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749808" y="34290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como copiloto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4480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entre pedirle código a un chatbot y trabajar con un copiloto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conoce tu placa, tus pines, tus reglas y tus errores pasados.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Claude Code?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de Anthropic integrada en el flujo de desarrollo real, no en una pestaña del navegador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1874520"/>
            <a:ext cx="603504" cy="603504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2031431"/>
            <a:ext cx="289682" cy="28968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72768" y="177393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 en tu terminal y tu editor</a:t>
            </a:r>
            <a:endParaRPr lang="en-US" sz="1550" dirty="0"/>
          </a:p>
        </p:txBody>
      </p:sp>
      <p:sp>
        <p:nvSpPr>
          <p:cNvPr id="10" name="Text 5"/>
          <p:cNvSpPr txBox="1"/>
          <p:nvPr/>
        </p:nvSpPr>
        <p:spPr>
          <a:xfrm>
            <a:off x="1572768" y="217627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oficial de Anthropic: trabaja donde está el código, con acceso al filesystem del proyecto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285292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77240" y="3081528"/>
            <a:ext cx="603504" cy="603504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151" y="3238439"/>
            <a:ext cx="289682" cy="28968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72768" y="298094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y entiende el proyecto completo</a:t>
            </a:r>
            <a:endParaRPr lang="en-US" sz="1550" dirty="0"/>
          </a:p>
        </p:txBody>
      </p:sp>
      <p:sp>
        <p:nvSpPr>
          <p:cNvPr id="15" name="Text 9"/>
          <p:cNvSpPr txBox="1"/>
          <p:nvPr/>
        </p:nvSpPr>
        <p:spPr>
          <a:xfrm>
            <a:off x="1572768" y="33832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 carpetas, sigue referencias entre archivos y respeta la estructura existente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0599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77240" y="4288536"/>
            <a:ext cx="603504" cy="603504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51" y="4445447"/>
            <a:ext cx="289682" cy="28968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72768" y="41879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Ejecuta, compila y verifica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1572768" y="459028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pio run, npm, git; levanta servidores de prueba y lee los errores por vos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48640" y="526694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77240" y="5495544"/>
            <a:ext cx="603504" cy="603504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151" y="5652455"/>
            <a:ext cx="289682" cy="28968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572768" y="53949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persistente y configurable</a:t>
            </a:r>
            <a:endParaRPr lang="en-US" sz="1550" dirty="0"/>
          </a:p>
        </p:txBody>
      </p:sp>
      <p:sp>
        <p:nvSpPr>
          <p:cNvPr id="25" name="Text 17"/>
          <p:cNvSpPr txBox="1"/>
          <p:nvPr/>
        </p:nvSpPr>
        <p:spPr>
          <a:xfrm>
            <a:off x="1572768" y="5797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+ skills + memoria: cada sesión arranca sabiendo qué placa, qué pines, qué reglas</a:t>
            </a:r>
            <a:endParaRPr lang="en-US" sz="12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el contrato del proyecto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archivo en la raíz del repo que la IA lee al inicio de cada sesión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EAEEF6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1920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UCASAL DEMO — Heltec WiFi LoRa 32 V2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331720"/>
            <a:ext cx="6035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Placa: Heltec V2 ×2 (TX + RX)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LoRa: SX1276 @ 915 MHz (Argentina)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Reglas de hardware: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Vext (GPIO 21 → LOW) antes de la OLED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ADC2 no funciona con WiFi activo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Protocolo: TelemetriaPacket 27 bytes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Seguridad (OBLIGATORIA):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NUNCA credenciales en el código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WiFi y API keys → include/secrets.h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secrets.h está en .gitignore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452360" y="1645920"/>
            <a:ext cx="4160520" cy="4663440"/>
          </a:xfrm>
          <a:prstGeom prst="roundRect">
            <a:avLst>
              <a:gd name="adj" fmla="val 175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2668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efecto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26680" y="23774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sesión nueva arranca con todo el contexto: no se re-explica nada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de pines o de frecuencia se evitan antes de compilar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de seguridad se aplican solas en cada archivo generado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estilo y la estructura se mantienen coherentes entre fases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5394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“Instrucciones una vez,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 para siempre.”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skills: la biblioteca del copiloto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.claude/skills/ — documentos de referencia que la IA consulta según el área de trabajo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0020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13232" y="1746504"/>
            <a:ext cx="402336" cy="402336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1851111"/>
            <a:ext cx="193121" cy="19312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7008" y="17282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Firmware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2221992"/>
            <a:ext cx="3246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heltec-board · pinout y límites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heltec-lora · radio y telemetría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heltec-display · OLED y UI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heltec-wifi · red, HTTP, OTA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heltec-power · deep sleep, batería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heltec-setup · PlatformIO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48640" y="4828032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13232" y="4974336"/>
            <a:ext cx="402336" cy="402336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39" y="5078943"/>
            <a:ext cx="193121" cy="19312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07008" y="49560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15" name="Text 9"/>
          <p:cNvSpPr txBox="1"/>
          <p:nvPr/>
        </p:nvSpPr>
        <p:spPr>
          <a:xfrm>
            <a:off x="777240" y="5449824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security-repo · secretos y .gitignore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security-iot · TLS, cifrado, hardening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361688" y="160020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526280" y="1746504"/>
            <a:ext cx="402336" cy="402336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887" y="1851111"/>
            <a:ext cx="193121" cy="1931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20056" y="17282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Datos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4590288" y="22219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firebase-rtdb · RTDB desde ESP32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telemetria-packet · contrato C++ ↔ JSON ↔ TS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361688" y="3227832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526280" y="3374136"/>
            <a:ext cx="402336" cy="402336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0887" y="3478743"/>
            <a:ext cx="193121" cy="19312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020056" y="33558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Web &amp; UI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4590288" y="384962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dashboard-ui · layout industrial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web-animations · CSS y micro-interacciones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data-viz · Chart.js en tiempo real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8174736" y="16002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8339328" y="1746504"/>
            <a:ext cx="402336" cy="402336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3935" y="1851111"/>
            <a:ext cx="193121" cy="193121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833104" y="17282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</a:t>
            </a:r>
            <a:endParaRPr lang="en-US" sz="1350" dirty="0"/>
          </a:p>
        </p:txBody>
      </p:sp>
      <p:sp>
        <p:nvSpPr>
          <p:cNvPr id="30" name="Text 21"/>
          <p:cNvSpPr txBox="1"/>
          <p:nvPr/>
        </p:nvSpPr>
        <p:spPr>
          <a:xfrm>
            <a:off x="8403336" y="22219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expo-react-native · SDK 54, troubleshooting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174736" y="2907792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339328" y="3054096"/>
            <a:ext cx="402336" cy="402336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3935" y="3158703"/>
            <a:ext cx="193121" cy="193121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833104" y="30358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8403336" y="352958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workshop-presenter · guía de demo en vivo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8174736" y="4215384"/>
            <a:ext cx="3657600" cy="2075688"/>
          </a:xfrm>
          <a:prstGeom prst="roundRect">
            <a:avLst>
              <a:gd name="adj" fmla="val 3524"/>
            </a:avLst>
          </a:prstGeom>
          <a:solidFill>
            <a:srgbClr val="EAEEF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8412480" y="4215384"/>
            <a:ext cx="32004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pido código LoRa, consulta heltec-lora y ya sabe librería, frecuencia y pines. Sin preguntar. Sin inventar.</a:t>
            </a:r>
            <a:endParaRPr lang="en-US" sz="13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persistente + entorno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IA recuerda entre sesiones — y los servidores que levanta sola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044598"/>
            <a:ext cx="263347" cy="26334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36192" y="1901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entre sesiones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68680" y="2697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expo-sdk-compat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2990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celular corre Expo Go v54 → no subir de SDK sin avisar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3566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expo-account-info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868680" y="38587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enzzo195 · usar npx eas-cli, no eas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68680" y="4434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firebase-limits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68680" y="47274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RTDB es solo demo; producción = MQTT + TimescaleDB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868680" y="5303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project-roadmap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55961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fases completas; ahora: ajustes y workshop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55080" y="1645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29400" y="1901952"/>
            <a:ext cx="548640" cy="548640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046" y="2044598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42632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configs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675120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web-dashboard → http.server :8080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expo-app → expo start :8081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67512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previsualiza el dashboard y la app en su propio navegador para verificar lo que genera.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355080" y="40690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AEEF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62940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neto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629400" y="470916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copiloto que no arranca de cero: sabe qué hardware hay conectado, qué errores ya se cometieron, qué versión de Expo tiene tu celular y qué reglas no se negocian. Eso convierte prompts cortos en resultados correctos.</a:t>
            </a:r>
            <a:endParaRPr lang="en-US" sz="13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0" y="548640"/>
            <a:ext cx="566928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0" dirty="0"/>
          </a:p>
        </p:txBody>
      </p:sp>
      <p:sp>
        <p:nvSpPr>
          <p:cNvPr id="5" name="Shape 1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03704"/>
            <a:ext cx="438912" cy="43891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05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749808" y="34290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autónomo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4480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de telemetría vale por las horas que funciona solo.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tiene su plan B.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Resiliencia en las placas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asume que las cosas fallan — y se recupera solo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4F6F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044598"/>
            <a:ext cx="263347" cy="26334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36192" y="1901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 — en el campo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68680" y="26974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Transmite cada 3 s con contador de secuencia anti-replay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sensor falla, sigue transmitiendo los demás y cuenta el error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 su propio voltaje de batería en cada paquete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con estado en vivo: se diagnostica sin conectar una PC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35508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4F6F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29400" y="1901952"/>
            <a:ext cx="548640" cy="548640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046" y="2044598"/>
            <a:ext cx="263347" cy="26334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42632" y="1901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 — en la base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6675120" y="26974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Reconexión WiFi automática ante cortes de red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real por NTP: no depende del reloj interno impreciso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Reintento de subida a Firebase si el request falla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paquetes perdidos comparando secuencia esperada vs recibida</a:t>
            </a:r>
            <a:endParaRPr lang="en-US" sz="13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Resiliencia en las apps — y lo que falta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llega aunque un mecanismo falle; producción pediría todavía más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4F6F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044598"/>
            <a:ext cx="263347" cy="26334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36192" y="1901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App móvil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68680" y="26974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Firebase en tiempo real (onValue): cambios al instante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de respaldo cada 5 s por si el listener se cae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Deduplicación por timestamp con useRef: sin re-renders inútiles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honesto de conexión: En Vivo / Offline visible siempre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35508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EAEEF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29400" y="1901952"/>
            <a:ext cx="548640" cy="548640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046" y="2044598"/>
            <a:ext cx="263347" cy="26334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42632" y="1901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producción faltaría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6675120" y="26974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sleep en TX: despertar cada N minutos y dormir la radio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timer: reinicio automático si el firmware se cuelga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local en RX si Firebase no responde (cola de reintento)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automática si un nodo deja de reportar (dead-man switch)</a:t>
            </a:r>
            <a:endParaRPr lang="en-US" sz="13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0" y="548640"/>
            <a:ext cx="566928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0" dirty="0"/>
          </a:p>
        </p:txBody>
      </p:sp>
      <p:sp>
        <p:nvSpPr>
          <p:cNvPr id="5" name="Shape 1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03704"/>
            <a:ext cx="438912" cy="43891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06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749808" y="34290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a paso con prompts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4480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 pedimos a la IA en cada fase — y qué salió del otro lado.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prompt es el nuevo plano de ingeniería.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0 y 1 — Setup y radio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cero a la primera comunicación LoRa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EAEEF6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947672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89888" y="1810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 · Setup del proyecto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31520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estructura + CLAUDE.md + skills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1389888" y="2331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“Necesito un proyecto IoT con PlatformIO para dos placas Heltec WiFi LoRa 32 V2: una TX con sensores DHT22 y BMP180, otra RX. LoRa a 915 MHz para Argentina. Creame la estructura de carpetas, el CLAUDE.md con las reglas del proyecto y las skills de hardware.”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233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EAEEF6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2511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89888" y="41879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Telemetría LoRa (TX y RX)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31520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TX transmite, RX muestra en OLED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1389888" y="4709160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“Firmware del transmisor: leer DHT22 y BMP180, empaquetar en un struct compartido y enviarlo por LoRa cada 3 segundos, con estado en la OLED. Después el receptor: decodificar el paquete, mostrar un mini-dashboard en OLED y detectar paquetes perdidos por secuencia.”</a:t>
            </a:r>
            <a:endParaRPr lang="en-US" sz="11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2 y 3 — Hora real y nube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receptor se conecta al mundo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AEEF6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E7490">
              <a:alpha val="14000"/>
            </a:srgbClr>
          </a:solidFill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947672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89888" y="1810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· WiFi + NTP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31520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timestamp real en cada lectura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1389888" y="23317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“Agregale WiFi al receptor: que se conecte a la red, obtenga la hora real por NTP y agregue timestamp a cada lectura. Las credenciales van en secrets.h, nunca en el código.”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8862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EAEEF6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18795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89888" y="405079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Firebase RTDB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315200" y="4050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datos visibles en la nube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1389888" y="4572000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“Ahora que el receptor tiene WiFi, subí los datos a Firebase Realtime Database en tiempo real. Cada lectura va al path /actual, con todos los campos del struct más RSSI, SNR, y contadores de paquetes recibidos y perdidos.”</a:t>
            </a:r>
            <a:endParaRPr lang="en-US" sz="11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4 y 5 — Ver los datos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dato, tres industrias, dos pantallas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EAEEF6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947672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89888" y="1810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· Dashboard web multi-vista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31520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 vistas industriales animadas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1389888" y="2331720"/>
            <a:ext cx="10058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“Dashboard web que lea Firebase en tiempo real. No quiero un dashboard genérico: quiero 3 vistas industriales con los mismos datos — ambiental, caldera con termómetro y zona de peligro, y planta de litio con pileta de salmuera. Interacciones que representen a la industria, no un simple cambio de labels e íconos. Chart.js, animaciones CSS, dark theme.”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3434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AEEF6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64515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89888" y="450799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· App móvil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315200" y="4507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 en Expo Go, tiempo real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1389888" y="502920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“App móvil con React Native y Expo que lea los mismos datos de Firebase en tiempo real. Las mismas 3 vistas industriales adaptadas a móvil, dark theme, indicador online/offline.”</a:t>
            </a:r>
            <a:endParaRPr lang="en-US" sz="11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real es iterativo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prompts son el punto de partida, no una varita mágica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48640" y="1920240"/>
            <a:ext cx="2670048" cy="274320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0632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Pedís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2044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prompt claro con el objetivo y las restricciones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456432" y="1920240"/>
            <a:ext cx="2670048" cy="274320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685032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3685032" y="30632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propone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85032" y="352044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Código, estructura, alternativas — con el contexto del proyecto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64224" y="1920240"/>
            <a:ext cx="2670048" cy="274320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92824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2"/>
          <p:cNvSpPr txBox="1"/>
          <p:nvPr/>
        </p:nvSpPr>
        <p:spPr>
          <a:xfrm>
            <a:off x="6592824" y="30632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Probás en hardware real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592824" y="352044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Compilar, subir a la placa, mirar la OLED y el serial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272016" y="1920240"/>
            <a:ext cx="2670048" cy="274320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500616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20" name="Text 16"/>
          <p:cNvSpPr txBox="1"/>
          <p:nvPr/>
        </p:nvSpPr>
        <p:spPr>
          <a:xfrm>
            <a:off x="9500616" y="30632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Corregís juntos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9500616" y="352044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vuelve como contexto; la solución queda en memoria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166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no reemplaza al desarrollador — lo potencia. El criterio sigue siendo humano.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1463040" y="57607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 del taller: la app se generó con Expo SDK 57, el celular corría Expo Go 54. El error fue contexto, el downgrade fue un prompt, y la lección quedó en memoria para siempre.</a:t>
            </a:r>
            <a:endParaRPr lang="en-US" sz="12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0" y="548640"/>
            <a:ext cx="566928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0" dirty="0"/>
          </a:p>
        </p:txBody>
      </p:sp>
      <p:sp>
        <p:nvSpPr>
          <p:cNvPr id="5" name="Shape 1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03704"/>
            <a:ext cx="438912" cy="43891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07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749808" y="34290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técnico por etapa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4480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herramientas exactas de cada fase: librerías, parámetros y comandos.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por fase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sistema, de la radio al APK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343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/ parámetros clave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LoRa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PlatformIO · RadioLib (SX1276) · U8g2 · DHT · Adafruit BMP085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915 MHz · BW 125 kHz · SF7 · CR 4/5 · serial 115200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WiFi + NTP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WiFi.h (ESP32) · configTime() · pool.ntp.org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Timezone UTC−3 · credenciales en secrets.h (.gitignore)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Firebase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Firebase ESP Client · HTTPS REST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/actual · API key + database URL · reglas demo abiertas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Web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 + CSS + JS vanilla · Firebase Web SDK 10.7 · Chart.js 4.4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-m http.server 8080 · animaciones CSS keyframes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App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Native 0.81 · Expo SDK 54 · TypeScript · Firebase JS v10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npx expo start --clear · build APK: npx eas-cli build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repositorio: carpetas numeradas 01–10 para el firmware, web/ y app/ para las interfaces, .claude/ para el copiloto.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completa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viaje de un dato: 27 bytes que terminan en tres pantallas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40080" y="237744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9808" y="24871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 TX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49808" y="2880360"/>
            <a:ext cx="2066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DHT22 + BMP180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estado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926080" y="3154680"/>
            <a:ext cx="13716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0" name="Text 6"/>
          <p:cNvSpPr txBox="1"/>
          <p:nvPr/>
        </p:nvSpPr>
        <p:spPr>
          <a:xfrm>
            <a:off x="2697480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915 MHz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97680" y="237744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07408" y="24871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 RX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407408" y="2880360"/>
            <a:ext cx="2066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+ NTP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dashboard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83680" y="3154680"/>
            <a:ext cx="1371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6355080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55280" y="23774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65008" y="24871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065008" y="2880360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RTDB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/actual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real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 flipH="1">
            <a:off x="7498080" y="3931920"/>
            <a:ext cx="1463040" cy="9601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961120" y="3931920"/>
            <a:ext cx="1463040" cy="9601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309360" y="489204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19088" y="500176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419088" y="5394960"/>
            <a:ext cx="21579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vistas industriales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326880" y="489204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436608" y="500176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9436608" y="5394960"/>
            <a:ext cx="21579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+ RN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onValue + polling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0080" y="48920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EAEEF6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68680" y="502920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TelemetriaPacket · 27 bytes
</a:t>
            </a:r>
            <a:r>
              <a:rPr lang="en-US" sz="1050" dirty="0">
                <a:solidFill>
                  <a:srgbClr val="5B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nodeId · secuencia · temp · hum · presión · altitud · sens. térmica · batería · errores</a:t>
            </a:r>
            <a:endParaRPr lang="en-US" sz="12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0" y="548640"/>
            <a:ext cx="566928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0" dirty="0"/>
          </a:p>
        </p:txBody>
      </p:sp>
      <p:sp>
        <p:nvSpPr>
          <p:cNvPr id="5" name="Shape 1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DC2626">
              <a:alpha val="14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03704"/>
            <a:ext cx="438912" cy="43891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08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749808" y="34290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es una DEMO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4480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más importante del taller: saber exactamente qué distancia hay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lo que construimos y un sistema industrial real.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LoRa — demo vs producción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✔ correcto para enseñar — LoRa crudo es más didáctico que LoRaWAN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(lo que hicimos)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Producción (lo correcto)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LoRa crudo punto a punto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LoRaWAN (TTN / Chirpstack)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Seguridad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cifrado en el aire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AES-128 con OTAA/ABP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Topología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TX → 1 RX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nodos → gateway → network server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de red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Manual, hardcodeada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OTA, ADR, duty cycle automático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470916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EAEEF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41248" y="5029200"/>
            <a:ext cx="777240" cy="777240"/>
          </a:xfrm>
          <a:prstGeom prst="ellipse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30" y="5231282"/>
            <a:ext cx="373075" cy="37307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874520" y="4864608"/>
            <a:ext cx="9464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 haríamos igual? Sí. </a:t>
            </a:r>
            <a:r>
              <a:rPr lang="en-US" sz="1350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enseñar radio, ver el paquete crudo byte a byte vale más que configurar un network server. En producción, la placa TX sería solo un nodo LoRaWAN y el gateway haría el resto.</a:t>
            </a:r>
            <a:endParaRPr lang="en-US" sz="13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2-3 · Cloud — el gap más grande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⚠ Firebase RTDB no es una plataforma de IoT industrial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(lo que hicimos)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Producción (lo correcto)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 (Firebase SDK)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MQTT con TLS mutuo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datos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RTDB: solo el último valor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TimescaleDB: series temporales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Histórico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Retención, downsampling, export CSV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Autenticación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 pública, reglas abiertas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JWT + certificados de dispositivo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Umbrales → SMS / email / push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EEF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22960" y="523036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producción:  </a:t>
            </a:r>
            <a:r>
              <a:rPr lang="en-US" sz="1250" dirty="0">
                <a:solidFill>
                  <a:srgbClr val="1B2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→ MQTT/TLS → Broker (Mosquitto/EMQX) → TimescaleDB → Grafana  +  Rule Engine de alertas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458939"/>
            <a:ext cx="777240" cy="28933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47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4-5 · Web y App — demo vs producción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🟡 la UI está a la altura; el stack y las features, no todavía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32841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Producción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· stack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 monolítico (~700 líneas)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React/Next.js — o directamente Grafana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· datos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tiempo real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Históricos + export CSV/PDF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· acceso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login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Roles: admin / operador / visor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· runtime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 Go (requiere servidor dev)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APK/AAB standalone firmado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· alertas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notifications (FCM)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· offline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soporte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local + sincronización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pragmática: para una demo que se muestra en un aula, un HTML portable sin build y una app en Expo Go son exactamente lo que se necesita.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579" y="147682"/>
            <a:ext cx="1790336" cy="6614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3078</Words>
  <Application>Microsoft Office PowerPoint</Application>
  <PresentationFormat>Panorámica</PresentationFormat>
  <Paragraphs>464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Enzo Jesus Juarez Velazquez</cp:lastModifiedBy>
  <cp:revision>3</cp:revision>
  <dcterms:created xsi:type="dcterms:W3CDTF">2026-08-28T00:04:10Z</dcterms:created>
  <dcterms:modified xsi:type="dcterms:W3CDTF">2026-08-28T00:13:37Z</dcterms:modified>
</cp:coreProperties>
</file>